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ref_extracted/unpacked/ppt/media/image1.png">    </p:cNvPr>
          <p:cNvPicPr>
            <a:picLocks noChangeAspect="1"/>
          </p:cNvPicPr>
          <p:nvPr/>
        </p:nvPicPr>
        <p:blipFill>
          <a:blip r:embed="rId1"/>
          <a:stretch>
            <a:fillRect/>
          </a:stretch>
        </p:blipFill>
        <p:spPr>
          <a:xfrm>
            <a:off x="182880" y="91440"/>
            <a:ext cx="8778240" cy="658368"/>
          </a:xfrm>
          <a:prstGeom prst="rect">
            <a:avLst/>
          </a:prstGeom>
        </p:spPr>
      </p:pic>
      <p:sp>
        <p:nvSpPr>
          <p:cNvPr id="3" name="Text 0"/>
          <p:cNvSpPr/>
          <p:nvPr/>
        </p:nvSpPr>
        <p:spPr>
          <a:xfrm>
            <a:off x="914400" y="960120"/>
            <a:ext cx="7315200" cy="32004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Department: </a:t>
            </a:r>
            <a:pPr algn="ctr" indent="0" marL="0">
              <a:buNone/>
            </a:pPr>
            <a:r>
              <a:rPr lang="en-US" sz="1600" dirty="0">
                <a:solidFill>
                  <a:srgbClr val="000000"/>
                </a:solidFill>
                <a:latin typeface="Calibri" pitchFamily="34" charset="0"/>
                <a:ea typeface="Calibri" pitchFamily="34" charset="-122"/>
                <a:cs typeface="Calibri" pitchFamily="34" charset="-120"/>
              </a:rPr>
              <a:t>Computer Science and Engineering</a:t>
            </a:r>
            <a:endParaRPr lang="en-US" sz="1600" dirty="0"/>
          </a:p>
        </p:txBody>
      </p:sp>
      <p:sp>
        <p:nvSpPr>
          <p:cNvPr id="4" name="Text 1"/>
          <p:cNvSpPr/>
          <p:nvPr/>
        </p:nvSpPr>
        <p:spPr>
          <a:xfrm>
            <a:off x="914400" y="1261872"/>
            <a:ext cx="7315200" cy="320040"/>
          </a:xfrm>
          <a:prstGeom prst="rect">
            <a:avLst/>
          </a:prstGeom>
          <a:noFill/>
          <a:ln/>
        </p:spPr>
        <p:txBody>
          <a:bodyPr wrap="square" rtlCol="0" anchor="ctr"/>
          <a:lstStyle/>
          <a:p>
            <a:pPr algn="ctr" indent="0" marL="0">
              <a:buNone/>
            </a:pPr>
            <a:r>
              <a:rPr lang="en-US" sz="1600" b="1" dirty="0">
                <a:solidFill>
                  <a:srgbClr val="000000"/>
                </a:solidFill>
                <a:latin typeface="Calibri" pitchFamily="34" charset="0"/>
                <a:ea typeface="Calibri" pitchFamily="34" charset="-122"/>
                <a:cs typeface="Calibri" pitchFamily="34" charset="-120"/>
              </a:rPr>
              <a:t>Academic Year: </a:t>
            </a:r>
            <a:pPr algn="ctr" indent="0" marL="0">
              <a:buNone/>
            </a:pPr>
            <a:r>
              <a:rPr lang="en-US" sz="1600" dirty="0">
                <a:solidFill>
                  <a:srgbClr val="000000"/>
                </a:solidFill>
                <a:latin typeface="Calibri" pitchFamily="34" charset="0"/>
                <a:ea typeface="Calibri" pitchFamily="34" charset="-122"/>
                <a:cs typeface="Calibri" pitchFamily="34" charset="-120"/>
              </a:rPr>
              <a:t>2025–2026</a:t>
            </a:r>
            <a:endParaRPr lang="en-US" sz="1600" dirty="0"/>
          </a:p>
        </p:txBody>
      </p:sp>
      <p:sp>
        <p:nvSpPr>
          <p:cNvPr id="5" name="Text 2"/>
          <p:cNvSpPr/>
          <p:nvPr/>
        </p:nvSpPr>
        <p:spPr>
          <a:xfrm>
            <a:off x="914400" y="1737360"/>
            <a:ext cx="7315200" cy="822960"/>
          </a:xfrm>
          <a:prstGeom prst="rect">
            <a:avLst/>
          </a:prstGeom>
          <a:noFill/>
          <a:ln/>
        </p:spPr>
        <p:txBody>
          <a:bodyPr wrap="square" rtlCol="0" anchor="ctr"/>
          <a:lstStyle/>
          <a:p>
            <a:pPr algn="ctr" indent="0" marL="0">
              <a:buNone/>
            </a:pPr>
            <a:r>
              <a:rPr lang="en-US" sz="2200" b="1" dirty="0">
                <a:solidFill>
                  <a:srgbClr val="000000"/>
                </a:solidFill>
                <a:latin typeface="Times New Roman" pitchFamily="34" charset="0"/>
                <a:ea typeface="Times New Roman" pitchFamily="34" charset="-122"/>
                <a:cs typeface="Times New Roman" pitchFamily="34" charset="-120"/>
              </a:rPr>
              <a:t>Her Guardian – A Smart Women Safety and Emergency System</a:t>
            </a:r>
            <a:endParaRPr lang="en-US" sz="2200" dirty="0"/>
          </a:p>
        </p:txBody>
      </p:sp>
      <p:sp>
        <p:nvSpPr>
          <p:cNvPr id="6" name="Text 3"/>
          <p:cNvSpPr/>
          <p:nvPr/>
        </p:nvSpPr>
        <p:spPr>
          <a:xfrm>
            <a:off x="457200" y="2788920"/>
            <a:ext cx="411480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Team Members:</a:t>
            </a:r>
            <a:endParaRPr lang="en-US" sz="1400" dirty="0"/>
          </a:p>
        </p:txBody>
      </p:sp>
      <p:sp>
        <p:nvSpPr>
          <p:cNvPr id="7" name="Text 4"/>
          <p:cNvSpPr/>
          <p:nvPr/>
        </p:nvSpPr>
        <p:spPr>
          <a:xfrm>
            <a:off x="457200" y="3090672"/>
            <a:ext cx="4114800" cy="1005840"/>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1.  A Sai Charan   - 160723733303</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2.  R Shrujan        - 160723733304</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3.  K Vara Prasad  - 160723733305</a:t>
            </a:r>
            <a:endParaRPr lang="en-US" sz="1300" dirty="0"/>
          </a:p>
        </p:txBody>
      </p:sp>
      <p:sp>
        <p:nvSpPr>
          <p:cNvPr id="8" name="Text 5"/>
          <p:cNvSpPr/>
          <p:nvPr/>
        </p:nvSpPr>
        <p:spPr>
          <a:xfrm>
            <a:off x="5029200" y="2788920"/>
            <a:ext cx="384048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9" name="Text 6"/>
          <p:cNvSpPr/>
          <p:nvPr/>
        </p:nvSpPr>
        <p:spPr>
          <a:xfrm>
            <a:off x="5029200" y="3090672"/>
            <a:ext cx="3840480" cy="1005840"/>
          </a:xfrm>
          <a:prstGeom prst="rect">
            <a:avLst/>
          </a:prstGeom>
          <a:noFill/>
          <a:ln/>
        </p:spPr>
        <p:txBody>
          <a:bodyPr wrap="square" rtlCol="0" anchor="ctr"/>
          <a:lstStyle/>
          <a:p>
            <a:pPr indent="0" marL="0">
              <a:buNone/>
            </a:pPr>
            <a:r>
              <a:rPr lang="en-US" sz="1300" dirty="0">
                <a:solidFill>
                  <a:srgbClr val="000000"/>
                </a:solidFill>
                <a:latin typeface="Calibri" pitchFamily="34" charset="0"/>
                <a:ea typeface="Calibri" pitchFamily="34" charset="-122"/>
                <a:cs typeface="Calibri" pitchFamily="34" charset="-120"/>
              </a:rPr>
              <a:t>Mrs. P. Nandini,   Assistant Professor</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Mrs. K. Radhika,  Assistant Professor</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Ms. Sandhya J,    Assistant Professor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CONTENTS</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2</a:t>
            </a:r>
            <a:endParaRPr lang="en-US" sz="1100" dirty="0"/>
          </a:p>
        </p:txBody>
      </p:sp>
      <p:sp>
        <p:nvSpPr>
          <p:cNvPr id="5" name="Text 3"/>
          <p:cNvSpPr/>
          <p:nvPr/>
        </p:nvSpPr>
        <p:spPr>
          <a:xfrm>
            <a:off x="548640" y="1417320"/>
            <a:ext cx="8046720" cy="3566160"/>
          </a:xfrm>
          <a:prstGeom prst="rect">
            <a:avLst/>
          </a:prstGeom>
          <a:noFill/>
          <a:ln/>
        </p:spPr>
        <p:txBody>
          <a:bodyPr wrap="square" rtlCol="0" anchor="ctr"/>
          <a:lstStyle/>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1.  Abstract</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2.  Introduction</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3.  Literature Survey</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4.  Motivation</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5.  Problem Statement</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6.  Proposed System &amp; Objectives</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7.  System Architecture</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8.  Module Description</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9.  Technology Stack &amp; Database Design</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10.  Advantages / Limitations</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11.  Future Enhancements</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12.  Conclusion</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13.  References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ABSTRACT :</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365760" y="1389888"/>
            <a:ext cx="8412480" cy="3566160"/>
          </a:xfrm>
          <a:prstGeom prst="rect">
            <a:avLst/>
          </a:prstGeom>
          <a:noFill/>
          <a:ln/>
        </p:spPr>
        <p:txBody>
          <a:bodyPr wrap="square" rtlCol="0" anchor="t"/>
          <a:lstStyle/>
          <a:p>
            <a:pPr algn="just" indent="0" marL="0">
              <a:spcAft>
                <a:spcPts val="800"/>
              </a:spcAft>
              <a:buNone/>
            </a:pPr>
            <a:r>
              <a:rPr lang="en-US" sz="1300" dirty="0">
                <a:solidFill>
                  <a:srgbClr val="000000"/>
                </a:solidFill>
                <a:latin typeface="Calibri" pitchFamily="34" charset="0"/>
                <a:ea typeface="Calibri" pitchFamily="34" charset="-122"/>
                <a:cs typeface="Calibri" pitchFamily="34" charset="-120"/>
              </a:rPr>
              <a:t>Her Guardian is a technology-driven safety platform designed to enhance women's personal security by providing immediate assistance during emergencies. It enables users to quickly alert trusted contacts and access essential safety resources through a referral-based registration system to maintain a secure user base.</a:t>
            </a:r>
            <a:endParaRPr lang="en-US" sz="1300" dirty="0"/>
          </a:p>
          <a:p>
            <a:pPr algn="just" indent="0" marL="0">
              <a:spcAft>
                <a:spcPts val="800"/>
              </a:spcAft>
              <a:buNone/>
            </a:pPr>
            <a:endParaRPr lang="en-US" sz="1300" dirty="0"/>
          </a:p>
          <a:p>
            <a:pPr algn="just" indent="0" marL="0">
              <a:spcAft>
                <a:spcPts val="800"/>
              </a:spcAft>
              <a:buNone/>
            </a:pPr>
            <a:r>
              <a:rPr lang="en-US" sz="1300" dirty="0">
                <a:solidFill>
                  <a:srgbClr val="000000"/>
                </a:solidFill>
                <a:latin typeface="Calibri" pitchFamily="34" charset="0"/>
                <a:ea typeface="Calibri" pitchFamily="34" charset="-122"/>
                <a:cs typeface="Calibri" pitchFamily="34" charset="-120"/>
              </a:rPr>
              <a:t>Available on both Android and Web platforms, the system uses Firebase Phone OTP authentication for fast and secure login. Its core feature is an SOS emergency alert that sends the user's current GPS location and emergency messages to trusted contacts with a single tap, also initiating a call to an emergency contact.</a:t>
            </a:r>
            <a:endParaRPr lang="en-US" sz="1300" dirty="0"/>
          </a:p>
          <a:p>
            <a:pPr algn="just" indent="0" marL="0">
              <a:spcAft>
                <a:spcPts val="800"/>
              </a:spcAft>
              <a:buNone/>
            </a:pPr>
            <a:endParaRPr lang="en-US" sz="1300" dirty="0"/>
          </a:p>
          <a:p>
            <a:pPr algn="just" indent="0" marL="0">
              <a:spcAft>
                <a:spcPts val="800"/>
              </a:spcAft>
              <a:buNone/>
            </a:pPr>
            <a:r>
              <a:rPr lang="en-US" sz="1300" dirty="0">
                <a:solidFill>
                  <a:srgbClr val="000000"/>
                </a:solidFill>
                <a:latin typeface="Calibri" pitchFamily="34" charset="0"/>
                <a:ea typeface="Calibri" pitchFamily="34" charset="-122"/>
                <a:cs typeface="Calibri" pitchFamily="34" charset="-120"/>
              </a:rPr>
              <a:t>The platform includes a Trusted Contacts module, a Helpline Directory for quick access to emergency numbers, and a Women Support Chat Room for safe communication and support. Her Guardian combines emergency response, community support, and secure access to improve women's safety and confidence in daily life.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INTRODUCTION</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p>
        </p:txBody>
      </p:sp>
      <p:sp>
        <p:nvSpPr>
          <p:cNvPr id="5" name="Text 3"/>
          <p:cNvSpPr/>
          <p:nvPr/>
        </p:nvSpPr>
        <p:spPr>
          <a:xfrm>
            <a:off x="365760" y="1389888"/>
            <a:ext cx="8412480" cy="100584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Her Guardian is a cross-platform safety system (Android + Web) designed to provide instant emergency assistance and secure communication for women. The system focuses on quick response, trusted connectivity, and controlled user access using a referral-based model.</a:t>
            </a:r>
            <a:endParaRPr lang="en-US" sz="1300" dirty="0"/>
          </a:p>
          <a:p>
            <a:pPr algn="just" indent="0" marL="0">
              <a:buNone/>
            </a:pPr>
            <a:endParaRPr lang="en-US" sz="1300" dirty="0"/>
          </a:p>
          <a:p>
            <a:pPr algn="just" indent="0" marL="0">
              <a:buNone/>
            </a:pPr>
            <a:r>
              <a:rPr lang="en-US" sz="1300" dirty="0">
                <a:solidFill>
                  <a:srgbClr val="000000"/>
                </a:solidFill>
                <a:latin typeface="Calibri" pitchFamily="34" charset="0"/>
                <a:ea typeface="Calibri" pitchFamily="34" charset="-122"/>
                <a:cs typeface="Calibri" pitchFamily="34" charset="-120"/>
              </a:rPr>
              <a:t>The application allows users to:</a:t>
            </a:r>
            <a:endParaRPr lang="en-US" sz="1300" dirty="0"/>
          </a:p>
        </p:txBody>
      </p:sp>
      <p:sp>
        <p:nvSpPr>
          <p:cNvPr id="6" name="Text 4"/>
          <p:cNvSpPr/>
          <p:nvPr/>
        </p:nvSpPr>
        <p:spPr>
          <a:xfrm>
            <a:off x="548640" y="2450592"/>
            <a:ext cx="8138160" cy="1097280"/>
          </a:xfrm>
          <a:prstGeom prst="rect">
            <a:avLst/>
          </a:prstGeom>
          <a:noFill/>
          <a:ln/>
        </p:spPr>
        <p:txBody>
          <a:bodyPr wrap="square" rtlCol="0" anchor="ctr"/>
          <a:lstStyle/>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Send SOS alerts with real-time GPS location to trusted contacts</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Contact trusted people instantly with a single tap</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Access emergency helplines and women's support numbers</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Use a community support chat room for safe communication</a:t>
            </a:r>
            <a:endParaRPr lang="en-US" sz="1300" dirty="0"/>
          </a:p>
        </p:txBody>
      </p:sp>
      <p:sp>
        <p:nvSpPr>
          <p:cNvPr id="7" name="Text 5"/>
          <p:cNvSpPr/>
          <p:nvPr/>
        </p:nvSpPr>
        <p:spPr>
          <a:xfrm>
            <a:off x="365760" y="3611880"/>
            <a:ext cx="8412480" cy="109728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Her Guardian demonstrates how modern mobile and web technologies can be used to address real-world safety concerns by combining emergency response, community support, and secure user access — offering women a practical tool for greater confidence and safety in daily life.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LITERATURE SURVEY</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82880" y="1389888"/>
          <a:ext cx="8778240" cy="3566160"/>
        </p:xfrm>
        <a:graphic>
          <a:graphicData uri="http://schemas.openxmlformats.org/drawingml/2006/table">
            <a:tbl>
              <a:tblPr/>
              <a:tblGrid>
                <a:gridCol w="457200"/>
                <a:gridCol w="2103120"/>
                <a:gridCol w="2103120"/>
                <a:gridCol w="1737360"/>
                <a:gridCol w="2377440"/>
              </a:tblGrid>
              <a:tr h="89154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S.No</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Title / System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Algorithm / Method</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Advantages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Disadvantages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VithU App – Emergency alert app by Sony LIV</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Double power-button press triggers SOS alerts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Quick trigger, widely used</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No GPS in offline mode; unverified contacts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Nirbhaya App – Women safety by Govt. of India</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GPS tracking + SOS alerts to police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Direct police integration</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Limited to specific states; no community support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bSafe – Personal safety network app</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Live GPS tracking + Follow Me feature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Real-time tracking, social safety network</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Paid features; no referral-based trust system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LITERATURE SURVEY</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82880" y="1389888"/>
          <a:ext cx="8778240" cy="3566160"/>
        </p:xfrm>
        <a:graphic>
          <a:graphicData uri="http://schemas.openxmlformats.org/drawingml/2006/table">
            <a:tbl>
              <a:tblPr/>
              <a:tblGrid>
                <a:gridCol w="457200"/>
                <a:gridCol w="2103120"/>
                <a:gridCol w="2103120"/>
                <a:gridCol w="1737360"/>
                <a:gridCol w="2377440"/>
              </a:tblGrid>
              <a:tr h="89154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S.No</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Title / System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Algorithm / Method</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Advantages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Disadvantages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Himmat App – Delhi Police safety app</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SOS with recorded audio/video sent to police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Police-integrated, audio-video evidence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Limited to Delhi; requires internet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SmartSafe – IoT-based wearable safety device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Wearable IoT + GPS + SOS button</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Works without smartphone; real-time alert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High cost; no community or chat support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891540">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Raksha – AI-powered threat detection app</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AI threat detection via audio analysis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Proactive detection without user input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Battery intensive; privacy concerns with audio</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MOTIVATION</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7</a:t>
            </a:r>
            <a:endParaRPr lang="en-US" sz="1100" dirty="0"/>
          </a:p>
        </p:txBody>
      </p:sp>
      <p:sp>
        <p:nvSpPr>
          <p:cNvPr id="5" name="Text 3"/>
          <p:cNvSpPr/>
          <p:nvPr/>
        </p:nvSpPr>
        <p:spPr>
          <a:xfrm>
            <a:off x="365760" y="1389888"/>
            <a:ext cx="8412480" cy="100584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Women's safety remains a critical issue in today's world. Incidents of harassment, assault, and unsafe situations demand faster, smarter, and more accessible emergency response systems. Existing apps lack unified features combining emergency response, trusted community, and controlled access. Her Guardian was motivated by the following key needs:</a:t>
            </a:r>
            <a:endParaRPr lang="en-US" sz="1300" dirty="0"/>
          </a:p>
        </p:txBody>
      </p:sp>
      <p:sp>
        <p:nvSpPr>
          <p:cNvPr id="6" name="Text 4"/>
          <p:cNvSpPr/>
          <p:nvPr/>
        </p:nvSpPr>
        <p:spPr>
          <a:xfrm>
            <a:off x="457200" y="2487168"/>
            <a:ext cx="8229600" cy="2468880"/>
          </a:xfrm>
          <a:prstGeom prst="rect">
            <a:avLst/>
          </a:prstGeom>
          <a:noFill/>
          <a:ln/>
        </p:spPr>
        <p:txBody>
          <a:bodyPr wrap="square" rtlCol="0" anchor="ctr"/>
          <a:lstStyle/>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Immediate one-tap emergency response — existing methods take too long to trigger</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A verified and trusted user network — referral model eliminates fake accounts</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Real-time GPS location sharing — contacts receive exact location for faster help</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Community support for women — a safe digital space to share experiences and get peer support</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Centralized platform — combining safety, communication, and helpline access in one app</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Secure login — Firebase OTP ensures only real phone owners can access the system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PROBLEM STATEMENT</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p>
        </p:txBody>
      </p:sp>
      <p:sp>
        <p:nvSpPr>
          <p:cNvPr id="5" name="Text 3"/>
          <p:cNvSpPr/>
          <p:nvPr/>
        </p:nvSpPr>
        <p:spPr>
          <a:xfrm>
            <a:off x="365760" y="1389888"/>
            <a:ext cx="8412480" cy="68580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Women often face unsafe situations where immediate help is not available or contacting others takes too much time. Existing safety systems have the following critical gaps:</a:t>
            </a:r>
            <a:endParaRPr lang="en-US" sz="1300" dirty="0"/>
          </a:p>
        </p:txBody>
      </p:sp>
      <p:sp>
        <p:nvSpPr>
          <p:cNvPr id="6" name="Text 4"/>
          <p:cNvSpPr/>
          <p:nvPr/>
        </p:nvSpPr>
        <p:spPr>
          <a:xfrm>
            <a:off x="457200" y="2121408"/>
            <a:ext cx="8229600" cy="2834640"/>
          </a:xfrm>
          <a:prstGeom prst="rect">
            <a:avLst/>
          </a:prstGeom>
          <a:noFill/>
          <a:ln/>
        </p:spPr>
        <p:txBody>
          <a:bodyPr wrap="square" rtlCol="0" anchor="ctr"/>
          <a:lstStyle/>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1.  Immediate help is not available in remote or unfamiliar areas</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2.  Contacting trusted persons takes too much time during emergencies</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3.  Fake users in safety apps reduce the reliability of the network</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4.  No centralized platform for quick help combined with community support</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5.  Existing systems lack fast emergency triggering mechanisms</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6.  Absence of a verified user network leads to trust issues</a:t>
            </a:r>
            <a:endParaRPr lang="en-US" sz="1300" dirty="0"/>
          </a:p>
          <a:p>
            <a:pPr indent="0" marL="0">
              <a:spcAft>
                <a:spcPts val="600"/>
              </a:spcAft>
              <a:buNone/>
            </a:pPr>
            <a:r>
              <a:rPr lang="en-US" sz="1300" dirty="0">
                <a:solidFill>
                  <a:srgbClr val="000000"/>
                </a:solidFill>
                <a:latin typeface="Calibri" pitchFamily="34" charset="0"/>
                <a:ea typeface="Calibri" pitchFamily="34" charset="-122"/>
                <a:cs typeface="Calibri" pitchFamily="34" charset="-120"/>
              </a:rPr>
              <a:t>7.  No integrated platform combining safety, communication, and community features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PROPOSED SYSTEM &amp; OBJECTIVES</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9</a:t>
            </a:r>
            <a:endParaRPr lang="en-US" sz="1100" dirty="0"/>
          </a:p>
        </p:txBody>
      </p:sp>
      <p:sp>
        <p:nvSpPr>
          <p:cNvPr id="5" name="Text 3"/>
          <p:cNvSpPr/>
          <p:nvPr/>
        </p:nvSpPr>
        <p:spPr>
          <a:xfrm>
            <a:off x="365760" y="1389888"/>
            <a:ext cx="841248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Proposed System:</a:t>
            </a:r>
            <a:endParaRPr lang="en-US" sz="1400" dirty="0"/>
          </a:p>
        </p:txBody>
      </p:sp>
      <p:sp>
        <p:nvSpPr>
          <p:cNvPr id="6" name="Text 4"/>
          <p:cNvSpPr/>
          <p:nvPr/>
        </p:nvSpPr>
        <p:spPr>
          <a:xfrm>
            <a:off x="365760" y="1691640"/>
            <a:ext cx="8412480" cy="777240"/>
          </a:xfrm>
          <a:prstGeom prst="rect">
            <a:avLst/>
          </a:prstGeom>
          <a:noFill/>
          <a:ln/>
        </p:spPr>
        <p:txBody>
          <a:bodyPr wrap="square" rtlCol="0" anchor="ctr"/>
          <a:lstStyle/>
          <a:p>
            <a:pPr algn="just" indent="0" marL="0">
              <a:buNone/>
            </a:pPr>
            <a:r>
              <a:rPr lang="en-US" sz="1300" dirty="0">
                <a:solidFill>
                  <a:srgbClr val="000000"/>
                </a:solidFill>
                <a:latin typeface="Calibri" pitchFamily="34" charset="0"/>
                <a:ea typeface="Calibri" pitchFamily="34" charset="-122"/>
                <a:cs typeface="Calibri" pitchFamily="34" charset="-120"/>
              </a:rPr>
              <a:t>Her Guardian introduces a referral-based user onboarding model, Firebase OTP authentication, a real-time SOS alert system, and an integrated support ecosystem. It combines safety features, communication features, and community support in a single platform available on both Android and Web.</a:t>
            </a:r>
            <a:endParaRPr lang="en-US" sz="1300" dirty="0"/>
          </a:p>
        </p:txBody>
      </p:sp>
      <p:sp>
        <p:nvSpPr>
          <p:cNvPr id="7" name="Text 5"/>
          <p:cNvSpPr/>
          <p:nvPr/>
        </p:nvSpPr>
        <p:spPr>
          <a:xfrm>
            <a:off x="365760" y="2542032"/>
            <a:ext cx="841248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Objectives:</a:t>
            </a:r>
            <a:endParaRPr lang="en-US" sz="1400" dirty="0"/>
          </a:p>
        </p:txBody>
      </p:sp>
      <p:sp>
        <p:nvSpPr>
          <p:cNvPr id="8" name="Text 6"/>
          <p:cNvSpPr/>
          <p:nvPr/>
        </p:nvSpPr>
        <p:spPr>
          <a:xfrm>
            <a:off x="457200" y="2852928"/>
            <a:ext cx="8229600" cy="2103120"/>
          </a:xfrm>
          <a:prstGeom prst="rect">
            <a:avLst/>
          </a:prstGeom>
          <a:noFill/>
          <a:ln/>
        </p:spPr>
        <p:txBody>
          <a:bodyPr wrap="square" rtlCol="0" anchor="ctr"/>
          <a:lstStyle/>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Provide one-tap emergency assistance with real-time GPS location sharing</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Enable real-time location sharing to trusted contacts during emergencies</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Build a trusted and verified user network using referral-based onboarding</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Offer quick access to emergency services via a Helpline Directory</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Create a safe digital support community through a Women Support Chat Room</a:t>
            </a:r>
            <a:endParaRPr lang="en-US" sz="1300" dirty="0"/>
          </a:p>
          <a:p>
            <a:pPr marL="342900" indent="-342900">
              <a:spcAft>
                <a:spcPts val="500"/>
              </a:spcAft>
              <a:buSzPct val="100000"/>
              <a:buChar char="•"/>
            </a:pPr>
            <a:r>
              <a:rPr lang="en-US" sz="1300" dirty="0">
                <a:solidFill>
                  <a:srgbClr val="000000"/>
                </a:solidFill>
                <a:latin typeface="Calibri" pitchFamily="34" charset="0"/>
                <a:ea typeface="Calibri" pitchFamily="34" charset="-122"/>
                <a:cs typeface="Calibri" pitchFamily="34" charset="-120"/>
              </a:rPr>
              <a:t>Ensure secure access using Firebase Phone OTP authentication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SYSTEM ARCHITECTURE</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10</a:t>
            </a:r>
            <a:endParaRPr lang="en-US" sz="1100" dirty="0"/>
          </a:p>
        </p:txBody>
      </p:sp>
      <p:sp>
        <p:nvSpPr>
          <p:cNvPr id="5" name="Text 3"/>
          <p:cNvSpPr/>
          <p:nvPr/>
        </p:nvSpPr>
        <p:spPr>
          <a:xfrm>
            <a:off x="365760" y="1389888"/>
            <a:ext cx="841248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Components:</a:t>
            </a:r>
            <a:endParaRPr lang="en-US" sz="1400" dirty="0"/>
          </a:p>
        </p:txBody>
      </p:sp>
      <p:sp>
        <p:nvSpPr>
          <p:cNvPr id="6" name="Shape 4"/>
          <p:cNvSpPr/>
          <p:nvPr/>
        </p:nvSpPr>
        <p:spPr>
          <a:xfrm>
            <a:off x="182880" y="1828800"/>
            <a:ext cx="1371600" cy="822960"/>
          </a:xfrm>
          <a:prstGeom prst="rect">
            <a:avLst/>
          </a:prstGeom>
          <a:solidFill>
            <a:srgbClr val="FFFFFF"/>
          </a:solidFill>
          <a:ln w="19050">
            <a:solidFill>
              <a:srgbClr val="000000"/>
            </a:solidFill>
            <a:prstDash val="solid"/>
          </a:ln>
        </p:spPr>
      </p:sp>
      <p:sp>
        <p:nvSpPr>
          <p:cNvPr id="7" name="Text 5"/>
          <p:cNvSpPr/>
          <p:nvPr/>
        </p:nvSpPr>
        <p:spPr>
          <a:xfrm>
            <a:off x="18288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User</a:t>
            </a:r>
            <a:endParaRPr lang="en-US" sz="950" dirty="0"/>
          </a:p>
        </p:txBody>
      </p:sp>
      <p:sp>
        <p:nvSpPr>
          <p:cNvPr id="8" name="Shape 6"/>
          <p:cNvSpPr/>
          <p:nvPr/>
        </p:nvSpPr>
        <p:spPr>
          <a:xfrm>
            <a:off x="1691640" y="1828800"/>
            <a:ext cx="1371600" cy="822960"/>
          </a:xfrm>
          <a:prstGeom prst="rect">
            <a:avLst/>
          </a:prstGeom>
          <a:solidFill>
            <a:srgbClr val="FFFFFF"/>
          </a:solidFill>
          <a:ln w="19050">
            <a:solidFill>
              <a:srgbClr val="000000"/>
            </a:solidFill>
            <a:prstDash val="solid"/>
          </a:ln>
        </p:spPr>
      </p:sp>
      <p:sp>
        <p:nvSpPr>
          <p:cNvPr id="9" name="Text 7"/>
          <p:cNvSpPr/>
          <p:nvPr/>
        </p:nvSpPr>
        <p:spPr>
          <a:xfrm>
            <a:off x="169164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Android App</a:t>
            </a:r>
            <a:endParaRPr lang="en-US" sz="950" dirty="0"/>
          </a:p>
          <a:p>
            <a:pPr algn="ctr" indent="0" marL="0">
              <a:buNone/>
            </a:pPr>
            <a:r>
              <a:rPr lang="en-US" sz="950" b="1" dirty="0">
                <a:solidFill>
                  <a:srgbClr val="000000"/>
                </a:solidFill>
                <a:latin typeface="Calibri" pitchFamily="34" charset="0"/>
                <a:ea typeface="Calibri" pitchFamily="34" charset="-122"/>
                <a:cs typeface="Calibri" pitchFamily="34" charset="-120"/>
              </a:rPr>
              <a:t>/ Web App</a:t>
            </a:r>
            <a:endParaRPr lang="en-US" sz="950" dirty="0"/>
          </a:p>
        </p:txBody>
      </p:sp>
      <p:sp>
        <p:nvSpPr>
          <p:cNvPr id="10" name="Shape 8"/>
          <p:cNvSpPr/>
          <p:nvPr/>
        </p:nvSpPr>
        <p:spPr>
          <a:xfrm>
            <a:off x="3246120" y="1828800"/>
            <a:ext cx="1371600" cy="822960"/>
          </a:xfrm>
          <a:prstGeom prst="rect">
            <a:avLst/>
          </a:prstGeom>
          <a:solidFill>
            <a:srgbClr val="FFFFFF"/>
          </a:solidFill>
          <a:ln w="19050">
            <a:solidFill>
              <a:srgbClr val="000000"/>
            </a:solidFill>
            <a:prstDash val="solid"/>
          </a:ln>
        </p:spPr>
      </p:sp>
      <p:sp>
        <p:nvSpPr>
          <p:cNvPr id="11" name="Text 9"/>
          <p:cNvSpPr/>
          <p:nvPr/>
        </p:nvSpPr>
        <p:spPr>
          <a:xfrm>
            <a:off x="324612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Firebase</a:t>
            </a:r>
            <a:endParaRPr lang="en-US" sz="950" dirty="0"/>
          </a:p>
          <a:p>
            <a:pPr algn="ctr" indent="0" marL="0">
              <a:buNone/>
            </a:pPr>
            <a:r>
              <a:rPr lang="en-US" sz="950" b="1" dirty="0">
                <a:solidFill>
                  <a:srgbClr val="000000"/>
                </a:solidFill>
                <a:latin typeface="Calibri" pitchFamily="34" charset="0"/>
                <a:ea typeface="Calibri" pitchFamily="34" charset="-122"/>
                <a:cs typeface="Calibri" pitchFamily="34" charset="-120"/>
              </a:rPr>
              <a:t>Auth (OTP)</a:t>
            </a:r>
            <a:endParaRPr lang="en-US" sz="950" dirty="0"/>
          </a:p>
        </p:txBody>
      </p:sp>
      <p:sp>
        <p:nvSpPr>
          <p:cNvPr id="12" name="Shape 10"/>
          <p:cNvSpPr/>
          <p:nvPr/>
        </p:nvSpPr>
        <p:spPr>
          <a:xfrm>
            <a:off x="4800600" y="1828800"/>
            <a:ext cx="1371600" cy="822960"/>
          </a:xfrm>
          <a:prstGeom prst="rect">
            <a:avLst/>
          </a:prstGeom>
          <a:solidFill>
            <a:srgbClr val="FFFFFF"/>
          </a:solidFill>
          <a:ln w="19050">
            <a:solidFill>
              <a:srgbClr val="000000"/>
            </a:solidFill>
            <a:prstDash val="solid"/>
          </a:ln>
        </p:spPr>
      </p:sp>
      <p:sp>
        <p:nvSpPr>
          <p:cNvPr id="13" name="Text 11"/>
          <p:cNvSpPr/>
          <p:nvPr/>
        </p:nvSpPr>
        <p:spPr>
          <a:xfrm>
            <a:off x="480060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Firestore</a:t>
            </a:r>
            <a:endParaRPr lang="en-US" sz="950" dirty="0"/>
          </a:p>
          <a:p>
            <a:pPr algn="ctr" indent="0" marL="0">
              <a:buNone/>
            </a:pPr>
            <a:r>
              <a:rPr lang="en-US" sz="950" b="1" dirty="0">
                <a:solidFill>
                  <a:srgbClr val="000000"/>
                </a:solidFill>
                <a:latin typeface="Calibri" pitchFamily="34" charset="0"/>
                <a:ea typeface="Calibri" pitchFamily="34" charset="-122"/>
                <a:cs typeface="Calibri" pitchFamily="34" charset="-120"/>
              </a:rPr>
              <a:t>Database</a:t>
            </a:r>
            <a:endParaRPr lang="en-US" sz="950" dirty="0"/>
          </a:p>
        </p:txBody>
      </p:sp>
      <p:sp>
        <p:nvSpPr>
          <p:cNvPr id="14" name="Shape 12"/>
          <p:cNvSpPr/>
          <p:nvPr/>
        </p:nvSpPr>
        <p:spPr>
          <a:xfrm>
            <a:off x="6355080" y="1828800"/>
            <a:ext cx="1371600" cy="822960"/>
          </a:xfrm>
          <a:prstGeom prst="rect">
            <a:avLst/>
          </a:prstGeom>
          <a:solidFill>
            <a:srgbClr val="FFFFFF"/>
          </a:solidFill>
          <a:ln w="19050">
            <a:solidFill>
              <a:srgbClr val="000000"/>
            </a:solidFill>
            <a:prstDash val="solid"/>
          </a:ln>
        </p:spPr>
      </p:sp>
      <p:sp>
        <p:nvSpPr>
          <p:cNvPr id="15" name="Text 13"/>
          <p:cNvSpPr/>
          <p:nvPr/>
        </p:nvSpPr>
        <p:spPr>
          <a:xfrm>
            <a:off x="635508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SOS</a:t>
            </a:r>
            <a:endParaRPr lang="en-US" sz="950" dirty="0"/>
          </a:p>
          <a:p>
            <a:pPr algn="ctr" indent="0" marL="0">
              <a:buNone/>
            </a:pPr>
            <a:r>
              <a:rPr lang="en-US" sz="950" b="1" dirty="0">
                <a:solidFill>
                  <a:srgbClr val="000000"/>
                </a:solidFill>
                <a:latin typeface="Calibri" pitchFamily="34" charset="0"/>
                <a:ea typeface="Calibri" pitchFamily="34" charset="-122"/>
                <a:cs typeface="Calibri" pitchFamily="34" charset="-120"/>
              </a:rPr>
              <a:t>Trigger</a:t>
            </a:r>
            <a:endParaRPr lang="en-US" sz="950" dirty="0"/>
          </a:p>
        </p:txBody>
      </p:sp>
      <p:sp>
        <p:nvSpPr>
          <p:cNvPr id="16" name="Shape 14"/>
          <p:cNvSpPr/>
          <p:nvPr/>
        </p:nvSpPr>
        <p:spPr>
          <a:xfrm>
            <a:off x="7680960" y="1828800"/>
            <a:ext cx="1371600" cy="822960"/>
          </a:xfrm>
          <a:prstGeom prst="rect">
            <a:avLst/>
          </a:prstGeom>
          <a:solidFill>
            <a:srgbClr val="FFFFFF"/>
          </a:solidFill>
          <a:ln w="19050">
            <a:solidFill>
              <a:srgbClr val="000000"/>
            </a:solidFill>
            <a:prstDash val="solid"/>
          </a:ln>
        </p:spPr>
      </p:sp>
      <p:sp>
        <p:nvSpPr>
          <p:cNvPr id="17" name="Text 15"/>
          <p:cNvSpPr/>
          <p:nvPr/>
        </p:nvSpPr>
        <p:spPr>
          <a:xfrm>
            <a:off x="7680960" y="1828800"/>
            <a:ext cx="1371600" cy="822960"/>
          </a:xfrm>
          <a:prstGeom prst="rect">
            <a:avLst/>
          </a:prstGeom>
          <a:noFill/>
          <a:ln/>
        </p:spPr>
        <p:txBody>
          <a:bodyPr wrap="square"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Trusted</a:t>
            </a:r>
            <a:endParaRPr lang="en-US" sz="950" dirty="0"/>
          </a:p>
          <a:p>
            <a:pPr algn="ctr" indent="0" marL="0">
              <a:buNone/>
            </a:pPr>
            <a:r>
              <a:rPr lang="en-US" sz="950" b="1" dirty="0">
                <a:solidFill>
                  <a:srgbClr val="000000"/>
                </a:solidFill>
                <a:latin typeface="Calibri" pitchFamily="34" charset="0"/>
                <a:ea typeface="Calibri" pitchFamily="34" charset="-122"/>
                <a:cs typeface="Calibri" pitchFamily="34" charset="-120"/>
              </a:rPr>
              <a:t>Contacts</a:t>
            </a:r>
            <a:endParaRPr lang="en-US" sz="950" dirty="0"/>
          </a:p>
        </p:txBody>
      </p:sp>
      <p:sp>
        <p:nvSpPr>
          <p:cNvPr id="18" name="Shape 16"/>
          <p:cNvSpPr/>
          <p:nvPr/>
        </p:nvSpPr>
        <p:spPr>
          <a:xfrm>
            <a:off x="1554480" y="2240280"/>
            <a:ext cx="137160" cy="0"/>
          </a:xfrm>
          <a:prstGeom prst="line">
            <a:avLst/>
          </a:prstGeom>
          <a:noFill/>
          <a:ln w="19050">
            <a:solidFill>
              <a:srgbClr val="000000"/>
            </a:solidFill>
            <a:prstDash val="solid"/>
          </a:ln>
        </p:spPr>
      </p:sp>
      <p:sp>
        <p:nvSpPr>
          <p:cNvPr id="19" name="Shape 17"/>
          <p:cNvSpPr/>
          <p:nvPr/>
        </p:nvSpPr>
        <p:spPr>
          <a:xfrm>
            <a:off x="3063240" y="2240280"/>
            <a:ext cx="182880" cy="0"/>
          </a:xfrm>
          <a:prstGeom prst="line">
            <a:avLst/>
          </a:prstGeom>
          <a:noFill/>
          <a:ln w="19050">
            <a:solidFill>
              <a:srgbClr val="000000"/>
            </a:solidFill>
            <a:prstDash val="solid"/>
          </a:ln>
        </p:spPr>
      </p:sp>
      <p:sp>
        <p:nvSpPr>
          <p:cNvPr id="20" name="Shape 18"/>
          <p:cNvSpPr/>
          <p:nvPr/>
        </p:nvSpPr>
        <p:spPr>
          <a:xfrm>
            <a:off x="4617720" y="2240280"/>
            <a:ext cx="182880" cy="0"/>
          </a:xfrm>
          <a:prstGeom prst="line">
            <a:avLst/>
          </a:prstGeom>
          <a:noFill/>
          <a:ln w="19050">
            <a:solidFill>
              <a:srgbClr val="000000"/>
            </a:solidFill>
            <a:prstDash val="solid"/>
          </a:ln>
        </p:spPr>
      </p:sp>
      <p:sp>
        <p:nvSpPr>
          <p:cNvPr id="21" name="Shape 19"/>
          <p:cNvSpPr/>
          <p:nvPr/>
        </p:nvSpPr>
        <p:spPr>
          <a:xfrm>
            <a:off x="6172200" y="2240280"/>
            <a:ext cx="182880" cy="0"/>
          </a:xfrm>
          <a:prstGeom prst="line">
            <a:avLst/>
          </a:prstGeom>
          <a:noFill/>
          <a:ln w="19050">
            <a:solidFill>
              <a:srgbClr val="000000"/>
            </a:solidFill>
            <a:prstDash val="solid"/>
          </a:ln>
        </p:spPr>
      </p:sp>
      <p:sp>
        <p:nvSpPr>
          <p:cNvPr id="22" name="Shape 20"/>
          <p:cNvSpPr/>
          <p:nvPr/>
        </p:nvSpPr>
        <p:spPr>
          <a:xfrm>
            <a:off x="7726680" y="2240280"/>
            <a:ext cx="-45720" cy="0"/>
          </a:xfrm>
          <a:prstGeom prst="line">
            <a:avLst/>
          </a:prstGeom>
          <a:noFill/>
          <a:ln w="19050">
            <a:solidFill>
              <a:srgbClr val="000000"/>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371600" y="2834640"/>
          <a:ext cx="6400800" cy="2148840"/>
        </p:xfrm>
        <a:graphic>
          <a:graphicData uri="http://schemas.openxmlformats.org/drawingml/2006/table">
            <a:tbl>
              <a:tblPr/>
              <a:tblGrid>
                <a:gridCol w="2560320"/>
                <a:gridCol w="3840480"/>
              </a:tblGrid>
              <a:tr h="3581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Technology / Component</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3581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Frontend (Android)</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Java / Kotlin</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3581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Frontend (Web)</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React.js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3581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Backend / Auth</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Firebase Authentication (Phone OTP)</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3581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Database</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Cloud Firestore</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3581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External Services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GPS Location API, SMS &amp; Calling (device-based)</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MODULE DESCRIPTION</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11</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1389888"/>
          <a:ext cx="8778240" cy="3566160"/>
        </p:xfrm>
        <a:graphic>
          <a:graphicData uri="http://schemas.openxmlformats.org/drawingml/2006/table">
            <a:tbl>
              <a:tblPr/>
              <a:tblGrid>
                <a:gridCol w="548640"/>
                <a:gridCol w="2011680"/>
                <a:gridCol w="6217920"/>
              </a:tblGrid>
              <a:tr h="44577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Authentication Module</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Uses Firebase Phone OTP login — secure, passwordless, and fast authentication for all users.</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Referral-Based Registration</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New users require a valid referral code from an existing user, preventing fake accounts and building a trusted network.</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SOS Emergency Module</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One-tap SOS sends emergency message + GPS location link via SMS to all trusted contacts and auto-dials the primary emergency contact.</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Location Tracking</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Uses mobile GPS to fetch current coordinates and sends a Google Maps link to trusted contacts instantly.</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Trusted Contacts Module</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Allows users to store 3–5 trusted contacts in Firestore, who receive all SOS alerts and location during emergencies.</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Helpline Directory</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Pre-loaded list of emergency numbers (Police: 100, Ambulance: 108, Women Helpline: 1091) with one-tap calling.</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45770">
                <a:tc>
                  <a:txBody>
                    <a:bodyPr/>
                    <a:lstStyle/>
                    <a:p>
                      <a:pPr algn="ctr" indent="0" marL="0">
                        <a:buNone/>
                      </a:pPr>
                      <a:r>
                        <a:rPr lang="en-US" sz="1000" b="1" dirty="0">
                          <a:solidFill>
                            <a:srgbClr val="000000"/>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Women Support Chat Room</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Single community chat room with text messaging. Includes Block and Report message safety controls for moderation.</a:t>
                      </a:r>
                      <a:endParaRPr lang="en-US" sz="10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TECHNOLOGY STACK &amp; DATABASE DESIGN</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12</a:t>
            </a:r>
            <a:endParaRPr lang="en-US" sz="1100" dirty="0"/>
          </a:p>
        </p:txBody>
      </p:sp>
      <p:sp>
        <p:nvSpPr>
          <p:cNvPr id="5" name="Text 3"/>
          <p:cNvSpPr/>
          <p:nvPr/>
        </p:nvSpPr>
        <p:spPr>
          <a:xfrm>
            <a:off x="274320" y="1389888"/>
            <a:ext cx="4114800" cy="256032"/>
          </a:xfrm>
          <a:prstGeom prst="rect">
            <a:avLst/>
          </a:prstGeom>
          <a:noFill/>
          <a:ln/>
        </p:spPr>
        <p:txBody>
          <a:bodyPr wrap="square"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Technology Stack:</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1682496"/>
          <a:ext cx="4114800" cy="3200400"/>
        </p:xfrm>
        <a:graphic>
          <a:graphicData uri="http://schemas.openxmlformats.org/drawingml/2006/table">
            <a:tbl>
              <a:tblPr/>
              <a:tblGrid>
                <a:gridCol w="1920240"/>
                <a:gridCol w="2194560"/>
              </a:tblGrid>
              <a:tr h="40005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Android Frontend</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Java / Kotlin</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Web Frontend</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React.js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Authentication</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Firebase Phone OTP</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Database</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Cloud Firestore</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Location</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GPS Location API</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SMS &amp; Calling</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Device-based Telephony</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0005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Hosting</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Firebase Hosting</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
        <p:nvSpPr>
          <p:cNvPr id="7" name="Text 4"/>
          <p:cNvSpPr/>
          <p:nvPr/>
        </p:nvSpPr>
        <p:spPr>
          <a:xfrm>
            <a:off x="4754880" y="1389888"/>
            <a:ext cx="4114800" cy="256032"/>
          </a:xfrm>
          <a:prstGeom prst="rect">
            <a:avLst/>
          </a:prstGeom>
          <a:noFill/>
          <a:ln/>
        </p:spPr>
        <p:txBody>
          <a:bodyPr wrap="square"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Database Design (Firestore):</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754880" y="1682496"/>
          <a:ext cx="4114800" cy="1828800"/>
        </p:xfrm>
        <a:graphic>
          <a:graphicData uri="http://schemas.openxmlformats.org/drawingml/2006/table">
            <a:tbl>
              <a:tblPr/>
              <a:tblGrid>
                <a:gridCol w="1371600"/>
                <a:gridCol w="274320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45720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userId, phoneNumber, referralCode, contacts[ ]</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Contacts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name, phoneNumber</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45720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Messages</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senderId, message, timestamp</a:t>
                      </a:r>
                      <a:endParaRPr lang="en-US" sz="110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bl>
          </a:graphicData>
        </a:graphic>
      </p:graphicFrame>
      <p:sp>
        <p:nvSpPr>
          <p:cNvPr id="9" name="Text 5"/>
          <p:cNvSpPr/>
          <p:nvPr/>
        </p:nvSpPr>
        <p:spPr>
          <a:xfrm>
            <a:off x="4754880" y="3657600"/>
            <a:ext cx="4114800" cy="256032"/>
          </a:xfrm>
          <a:prstGeom prst="rect">
            <a:avLst/>
          </a:prstGeom>
          <a:noFill/>
          <a:ln/>
        </p:spPr>
        <p:txBody>
          <a:bodyPr wrap="square"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Flow:</a:t>
            </a:r>
            <a:endParaRPr lang="en-US" sz="1300" dirty="0"/>
          </a:p>
        </p:txBody>
      </p:sp>
      <p:sp>
        <p:nvSpPr>
          <p:cNvPr id="10" name="Text 6"/>
          <p:cNvSpPr/>
          <p:nvPr/>
        </p:nvSpPr>
        <p:spPr>
          <a:xfrm>
            <a:off x="4754880" y="3931920"/>
            <a:ext cx="4114800" cy="731520"/>
          </a:xfrm>
          <a:prstGeom prst="rect">
            <a:avLst/>
          </a:prstGeom>
          <a:noFill/>
          <a:ln/>
        </p:spPr>
        <p:txBody>
          <a:bodyPr wrap="square" rtlCol="0" anchor="ctr"/>
          <a:lstStyle/>
          <a:p>
            <a:pPr algn="l" indent="0" marL="0">
              <a:buNone/>
            </a:pPr>
            <a:r>
              <a:rPr lang="en-US" sz="1100" dirty="0">
                <a:solidFill>
                  <a:srgbClr val="000000"/>
                </a:solidFill>
                <a:latin typeface="Calibri" pitchFamily="34" charset="0"/>
                <a:ea typeface="Calibri" pitchFamily="34" charset="-122"/>
                <a:cs typeface="Calibri" pitchFamily="34" charset="-120"/>
              </a:rPr>
              <a:t>User  →  App  →  Firebase Auth  →  Firestore Database  →  SOS Trigger  →  Trusted Contacts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ADVANTAGES / LIMITATIONS</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13</a:t>
            </a:r>
            <a:endParaRPr lang="en-US" sz="1100" dirty="0"/>
          </a:p>
        </p:txBody>
      </p:sp>
      <p:sp>
        <p:nvSpPr>
          <p:cNvPr id="5" name="Text 3"/>
          <p:cNvSpPr/>
          <p:nvPr/>
        </p:nvSpPr>
        <p:spPr>
          <a:xfrm>
            <a:off x="365760" y="1389888"/>
            <a:ext cx="402336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Advantages:</a:t>
            </a:r>
            <a:endParaRPr lang="en-US" sz="1400" dirty="0"/>
          </a:p>
        </p:txBody>
      </p:sp>
      <p:sp>
        <p:nvSpPr>
          <p:cNvPr id="6" name="Text 4"/>
          <p:cNvSpPr/>
          <p:nvPr/>
        </p:nvSpPr>
        <p:spPr>
          <a:xfrm>
            <a:off x="457200" y="1719072"/>
            <a:ext cx="3931920" cy="2743200"/>
          </a:xfrm>
          <a:prstGeom prst="rect">
            <a:avLst/>
          </a:prstGeom>
          <a:noFill/>
          <a:ln/>
        </p:spPr>
        <p:txBody>
          <a:bodyPr wrap="square" rtlCol="0" anchor="ctr"/>
          <a:lstStyle/>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Fast one-tap emergency response</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Real-time GPS location sharing to trusted contacts</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Works on both Android and Web platforms</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Referral-based trusted user ecosystem</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Firebase OTP ensures secure and passwordless login</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Lightweight, scalable Firebase architecture</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Women Support Chat Room for community help</a:t>
            </a:r>
            <a:endParaRPr lang="en-US" sz="1200" dirty="0"/>
          </a:p>
        </p:txBody>
      </p:sp>
      <p:sp>
        <p:nvSpPr>
          <p:cNvPr id="7" name="Shape 5"/>
          <p:cNvSpPr/>
          <p:nvPr/>
        </p:nvSpPr>
        <p:spPr>
          <a:xfrm>
            <a:off x="4572000" y="1389888"/>
            <a:ext cx="0" cy="3383280"/>
          </a:xfrm>
          <a:prstGeom prst="line">
            <a:avLst/>
          </a:prstGeom>
          <a:noFill/>
          <a:ln w="12700">
            <a:solidFill>
              <a:srgbClr val="999999"/>
            </a:solidFill>
            <a:prstDash val="solid"/>
          </a:ln>
        </p:spPr>
      </p:sp>
      <p:sp>
        <p:nvSpPr>
          <p:cNvPr id="8" name="Text 6"/>
          <p:cNvSpPr/>
          <p:nvPr/>
        </p:nvSpPr>
        <p:spPr>
          <a:xfrm>
            <a:off x="4754880" y="1389888"/>
            <a:ext cx="4023360" cy="274320"/>
          </a:xfrm>
          <a:prstGeom prst="rect">
            <a:avLst/>
          </a:prstGeom>
          <a:noFill/>
          <a:ln/>
        </p:spPr>
        <p:txBody>
          <a:bodyPr wrap="square"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Limitations:</a:t>
            </a:r>
            <a:endParaRPr lang="en-US" sz="1400" dirty="0"/>
          </a:p>
        </p:txBody>
      </p:sp>
      <p:sp>
        <p:nvSpPr>
          <p:cNvPr id="9" name="Text 7"/>
          <p:cNvSpPr/>
          <p:nvPr/>
        </p:nvSpPr>
        <p:spPr>
          <a:xfrm>
            <a:off x="4846320" y="1719072"/>
            <a:ext cx="3931920" cy="2743200"/>
          </a:xfrm>
          <a:prstGeom prst="rect">
            <a:avLst/>
          </a:prstGeom>
          <a:noFill/>
          <a:ln/>
        </p:spPr>
        <p:txBody>
          <a:bodyPr wrap="square" rtlCol="0" anchor="ctr"/>
          <a:lstStyle/>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Requires active internet for most features</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SMS alerts depend on mobile network availability</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Basic chat — no advanced moderation tools</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No direct police system integration (yet)</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Referral model may limit new user reach</a:t>
            </a:r>
            <a:endParaRPr lang="en-US" sz="1200" dirty="0"/>
          </a:p>
          <a:p>
            <a:pPr marL="342900" indent="-342900">
              <a:spcAft>
                <a:spcPts val="300"/>
              </a:spcAft>
              <a:buSzPct val="100000"/>
              <a:buChar char="•"/>
            </a:pPr>
            <a:r>
              <a:rPr lang="en-US" sz="1200" dirty="0">
                <a:solidFill>
                  <a:srgbClr val="000000"/>
                </a:solidFill>
                <a:latin typeface="Calibri" pitchFamily="34" charset="0"/>
                <a:ea typeface="Calibri" pitchFamily="34" charset="-122"/>
                <a:cs typeface="Calibri" pitchFamily="34" charset="-120"/>
              </a:rPr>
              <a:t>GPS accuracy may vary indoors or in remote areas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FUTURE ENHANCEMENTS</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14</a:t>
            </a:r>
            <a:endParaRPr lang="en-US" sz="1100" dirty="0"/>
          </a:p>
        </p:txBody>
      </p:sp>
      <p:sp>
        <p:nvSpPr>
          <p:cNvPr id="5" name="Text 3"/>
          <p:cNvSpPr/>
          <p:nvPr/>
        </p:nvSpPr>
        <p:spPr>
          <a:xfrm>
            <a:off x="365760" y="1417320"/>
            <a:ext cx="8412480" cy="3566160"/>
          </a:xfrm>
          <a:prstGeom prst="rect">
            <a:avLst/>
          </a:prstGeom>
          <a:noFill/>
          <a:ln/>
        </p:spPr>
        <p:txBody>
          <a:bodyPr wrap="square" rtlCol="0" anchor="ctr"/>
          <a:lstStyle/>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1.  AI-Based Danger Detection — Detect threats automatically using sound analysis and movement patterns without manual trigger</a:t>
            </a:r>
            <a:endParaRPr lang="en-US" sz="1250" dirty="0"/>
          </a:p>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2.  Police System Integration — Direct API integration with local police systems for real-time alert dispatch</a:t>
            </a:r>
            <a:endParaRPr lang="en-US" sz="1250" dirty="0"/>
          </a:p>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3.  Voice-Activated SOS — Trigger emergency alerts using a specific voice command, no touch required</a:t>
            </a:r>
            <a:endParaRPr lang="en-US" sz="1250" dirty="0"/>
          </a:p>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4.  Wearable Device Support — Extend functionality to smartwatches and IoT wearables for discreet SOS triggering</a:t>
            </a:r>
            <a:endParaRPr lang="en-US" sz="1250" dirty="0"/>
          </a:p>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5.  Live Tracking Dashboard — Real-time map dashboard for trusted contacts to monitor user location during emergencies</a:t>
            </a:r>
            <a:endParaRPr lang="en-US" sz="1250" dirty="0"/>
          </a:p>
          <a:p>
            <a:pPr indent="0" marL="0">
              <a:spcAft>
                <a:spcPts val="800"/>
              </a:spcAft>
              <a:buNone/>
            </a:pPr>
            <a:r>
              <a:rPr lang="en-US" sz="1250" dirty="0">
                <a:solidFill>
                  <a:srgbClr val="000000"/>
                </a:solidFill>
                <a:latin typeface="Calibri" pitchFamily="34" charset="0"/>
                <a:ea typeface="Calibri" pitchFamily="34" charset="-122"/>
                <a:cs typeface="Calibri" pitchFamily="34" charset="-120"/>
              </a:rPr>
              <a:t>6.  Offline Mode — Enable core SOS features to function in areas with limited or no internet connectivity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CONCLUSION</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15</a:t>
            </a:r>
            <a:endParaRPr lang="en-US" sz="1100" dirty="0"/>
          </a:p>
        </p:txBody>
      </p:sp>
      <p:sp>
        <p:nvSpPr>
          <p:cNvPr id="5" name="Text 3"/>
          <p:cNvSpPr/>
          <p:nvPr/>
        </p:nvSpPr>
        <p:spPr>
          <a:xfrm>
            <a:off x="365760" y="1389888"/>
            <a:ext cx="8412480" cy="1280160"/>
          </a:xfrm>
          <a:prstGeom prst="rect">
            <a:avLst/>
          </a:prstGeom>
          <a:noFill/>
          <a:ln/>
        </p:spPr>
        <p:txBody>
          <a:bodyPr wrap="square" rtlCol="0" anchor="ctr"/>
          <a:lstStyle/>
          <a:p>
            <a:pPr algn="just" indent="0" marL="0">
              <a:spcAft>
                <a:spcPts val="800"/>
              </a:spcAft>
              <a:buNone/>
            </a:pPr>
            <a:r>
              <a:rPr lang="en-US" sz="1300" dirty="0">
                <a:solidFill>
                  <a:srgbClr val="000000"/>
                </a:solidFill>
                <a:latin typeface="Calibri" pitchFamily="34" charset="0"/>
                <a:ea typeface="Calibri" pitchFamily="34" charset="-122"/>
                <a:cs typeface="Calibri" pitchFamily="34" charset="-120"/>
              </a:rPr>
              <a:t>Her Guardian provides a practical and scalable solution to improve women's safety using modern technology. By combining SOS alerts, trusted contacts, helpline access, and community support, the system ensures faster response during emergencies and builds a safer digital environment.</a:t>
            </a:r>
            <a:endParaRPr lang="en-US" sz="1300" dirty="0"/>
          </a:p>
          <a:p>
            <a:pPr algn="just" indent="0" marL="0">
              <a:spcAft>
                <a:spcPts val="800"/>
              </a:spcAft>
              <a:buNone/>
            </a:pPr>
            <a:endParaRPr lang="en-US" sz="1300" dirty="0"/>
          </a:p>
          <a:p>
            <a:pPr algn="just" indent="0" marL="0">
              <a:spcAft>
                <a:spcPts val="800"/>
              </a:spcAft>
              <a:buNone/>
            </a:pPr>
            <a:r>
              <a:rPr lang="en-US" sz="1300" dirty="0">
                <a:solidFill>
                  <a:srgbClr val="000000"/>
                </a:solidFill>
                <a:latin typeface="Calibri" pitchFamily="34" charset="0"/>
                <a:ea typeface="Calibri" pitchFamily="34" charset="-122"/>
                <a:cs typeface="Calibri" pitchFamily="34" charset="-120"/>
              </a:rPr>
              <a:t>Overall, Her Guardian demonstrates how modern mobile and web technologies can be used to address real-world safety concerns by combining emergency response, community support, and secure user access.</a:t>
            </a:r>
            <a:endParaRPr lang="en-US" sz="1300" dirty="0"/>
          </a:p>
        </p:txBody>
      </p:sp>
      <p:sp>
        <p:nvSpPr>
          <p:cNvPr id="6" name="Text 4"/>
          <p:cNvSpPr/>
          <p:nvPr/>
        </p:nvSpPr>
        <p:spPr>
          <a:xfrm>
            <a:off x="457200" y="2816352"/>
            <a:ext cx="8229600" cy="2103120"/>
          </a:xfrm>
          <a:prstGeom prst="rect">
            <a:avLst/>
          </a:prstGeom>
          <a:noFill/>
          <a:ln/>
        </p:spPr>
        <p:txBody>
          <a:bodyPr wrap="square" rtlCol="0" anchor="ctr"/>
          <a:lstStyle/>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Addresses a real-world problem with a practical, technology-driven approach</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Combines emergency response, community support, and secure user access in one platform</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Cross-platform availability (Android + Web) ensures maximum reach and accessibility</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Firebase OTP authentication and referral-based model ensure security and trust</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Scalable architecture allows easy future enhancement with AI, IoT, and police integration</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Demonstrates effective use of mobile and web technologies for social good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868680"/>
            <a:ext cx="8595360" cy="411480"/>
          </a:xfrm>
          <a:prstGeom prst="rect">
            <a:avLst/>
          </a:prstGeom>
          <a:noFill/>
          <a:ln/>
        </p:spPr>
        <p:txBody>
          <a:bodyPr wrap="square" rtlCol="0" anchor="ctr"/>
          <a:lstStyle/>
          <a:p>
            <a:pPr indent="0" marL="0">
              <a:buNone/>
            </a:pPr>
            <a:r>
              <a:rPr lang="en-US" sz="2000" b="1" dirty="0">
                <a:solidFill>
                  <a:srgbClr val="000000"/>
                </a:solidFill>
                <a:latin typeface="Times New Roman" pitchFamily="34" charset="0"/>
                <a:ea typeface="Times New Roman" pitchFamily="34" charset="-122"/>
                <a:cs typeface="Times New Roman" pitchFamily="34" charset="-120"/>
              </a:rPr>
              <a:t>❑  </a:t>
            </a:r>
            <a:pPr indent="0" marL="0">
              <a:buNone/>
            </a:pPr>
            <a:r>
              <a:rPr lang="en-US" sz="2000" b="1" dirty="0">
                <a:solidFill>
                  <a:srgbClr val="000000"/>
                </a:solidFill>
                <a:latin typeface="Times New Roman" pitchFamily="34" charset="0"/>
                <a:ea typeface="Times New Roman" pitchFamily="34" charset="-122"/>
                <a:cs typeface="Times New Roman" pitchFamily="34" charset="-120"/>
              </a:rPr>
              <a:t>REFERENCES</a:t>
            </a:r>
            <a:endParaRPr lang="en-US" sz="2000" dirty="0"/>
          </a:p>
        </p:txBody>
      </p:sp>
      <p:sp>
        <p:nvSpPr>
          <p:cNvPr id="3" name="Shape 1"/>
          <p:cNvSpPr/>
          <p:nvPr/>
        </p:nvSpPr>
        <p:spPr>
          <a:xfrm>
            <a:off x="274320" y="1298448"/>
            <a:ext cx="8595360" cy="0"/>
          </a:xfrm>
          <a:prstGeom prst="line">
            <a:avLst/>
          </a:prstGeom>
          <a:noFill/>
          <a:ln w="6350">
            <a:solidFill>
              <a:srgbClr val="AAAAAA"/>
            </a:solidFill>
            <a:prstDash val="solid"/>
          </a:ln>
        </p:spPr>
      </p:sp>
      <p:sp>
        <p:nvSpPr>
          <p:cNvPr id="4" name="Text 2"/>
          <p:cNvSpPr/>
          <p:nvPr/>
        </p:nvSpPr>
        <p:spPr>
          <a:xfrm>
            <a:off x="8229600" y="4892040"/>
            <a:ext cx="685800" cy="228600"/>
          </a:xfrm>
          <a:prstGeom prst="rect">
            <a:avLst/>
          </a:prstGeom>
          <a:noFill/>
          <a:ln/>
        </p:spPr>
        <p:txBody>
          <a:bodyPr wrap="square" rtlCol="0" anchor="ctr"/>
          <a:lstStyle/>
          <a:p>
            <a:pPr algn="r" indent="0" marL="0">
              <a:buNone/>
            </a:pPr>
            <a:r>
              <a:rPr lang="en-US" sz="1100" dirty="0">
                <a:solidFill>
                  <a:srgbClr val="000000"/>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82880" y="1389888"/>
          <a:ext cx="8778240" cy="3566160"/>
        </p:xfrm>
        <a:graphic>
          <a:graphicData uri="http://schemas.openxmlformats.org/drawingml/2006/table">
            <a:tbl>
              <a:tblPr/>
              <a:tblGrid>
                <a:gridCol w="457200"/>
                <a:gridCol w="3657600"/>
                <a:gridCol w="4663440"/>
              </a:tblGrid>
              <a:tr h="509451">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S.No</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Reference / Resource</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000000"/>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Firebase Documentation – firebase.google.com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Official docs for Firebase Auth, Firestore, and Hosting used in this project</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Android Developer Documentation – developer.android.com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Official guidelines for building Android apps using Java/Kotlin</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React.js Documentation – react.dev</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Official React framework documentation for building the Web platform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Google Maps Platform – developers.google.com/maps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GPS location and mapping services for real-time location sharing in SOS</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VithU App – Sony LIV (2013)</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Reference safety app studied for SOS trigger mechanism during literature survey</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FFFFF"/>
                    </a:solidFill>
                  </a:tcPr>
                </a:tc>
              </a:tr>
              <a:tr h="509451">
                <a:tc>
                  <a:txBody>
                    <a:bodyPr/>
                    <a:lstStyle/>
                    <a:p>
                      <a:pPr algn="ctr" indent="0" marL="0">
                        <a:buNone/>
                      </a:pPr>
                      <a:r>
                        <a:rPr lang="en-US" sz="1050" dirty="0">
                          <a:solidFill>
                            <a:srgbClr val="000000"/>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bSafe Personal Safety Network – getbsafe.com</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Reference app studied for trusted contacts and social safety network design</a:t>
                      </a:r>
                      <a:endParaRPr lang="en-US" sz="1050" dirty="0">
                        <a:latin typeface="Calibri" charset="0"/>
                        <a:ea typeface="Calibri" charset="0"/>
                        <a:cs typeface="Calibri" charset="0"/>
                      </a:endParaRPr>
                    </a:p>
                  </a:txBody>
                  <a:tcPr marL="91440" marR="91440" marT="45720" marB="45720" anchor="ctr">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F2F2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 Guardian – A Smart Women Safety and Emergency System</dc:title>
  <dc:subject>PptxGenJS Presentation</dc:subject>
  <dc:creator>PptxGenJS</dc:creator>
  <cp:lastModifiedBy>PptxGenJS</cp:lastModifiedBy>
  <cp:revision>1</cp:revision>
  <dcterms:created xsi:type="dcterms:W3CDTF">2026-03-31T02:20:55Z</dcterms:created>
  <dcterms:modified xsi:type="dcterms:W3CDTF">2026-03-31T02:20:55Z</dcterms:modified>
</cp:coreProperties>
</file>